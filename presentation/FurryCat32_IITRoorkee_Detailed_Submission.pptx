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7"/>
    <p:sldId id="270" r:id="rId8"/>
    <p:sldId id="268" r:id="rId9"/>
    <p:sldId id="269" r:id="rId10"/>
    <p:sldId id="267" r:id="rId11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1B38B82-CEC7-C69A-2975-ABC58F0A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268F8932-C4F3-FDC2-CB3E-607803BE7A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6A633650-03D0-C155-CB98-61374AD99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36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0DDA7D7C-9925-A328-D689-A7BD57A0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BAB68928-9B13-C77E-2815-15EA8840F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151850BF-ADE6-DD72-E958-F29F115683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44634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8AF842F-58B0-B34B-8DBD-89AECCD1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6ACD1529-E690-5F76-2383-A08AA4C1B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A8344D14-A96A-15C7-9C8D-21D7C8163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2413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1E23924A-B012-A9C3-F0AC-334D69DD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8BEE98C2-96D6-8DEF-8A9E-504150B54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00DEC354-687D-A224-1C12-581FA77BB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316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B34B674-CCE8-B5AD-EAFC-7B80B8FF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>
            <a:extLst>
              <a:ext uri="{FF2B5EF4-FFF2-40B4-BE49-F238E27FC236}">
                <a16:creationId xmlns:a16="http://schemas.microsoft.com/office/drawing/2014/main" id="{A89244D4-B969-304A-CC37-0B24A21F6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>
            <a:extLst>
              <a:ext uri="{FF2B5EF4-FFF2-40B4-BE49-F238E27FC236}">
                <a16:creationId xmlns:a16="http://schemas.microsoft.com/office/drawing/2014/main" id="{C221CBCD-C4EC-359E-D547-DCD57D19F9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31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33" b="-833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 rot="-5400000">
            <a:off x="7160276" y="1597996"/>
            <a:ext cx="3967448" cy="12640961"/>
          </a:xfrm>
          <a:custGeom>
            <a:avLst/>
            <a:gdLst/>
            <a:ahLst/>
            <a:cxnLst/>
            <a:rect l="l" t="t" r="r" b="b"/>
            <a:pathLst>
              <a:path w="4277572" h="14347590" extrusionOk="0">
                <a:moveTo>
                  <a:pt x="0" y="0"/>
                </a:moveTo>
                <a:lnTo>
                  <a:pt x="4277572" y="0"/>
                </a:lnTo>
                <a:lnTo>
                  <a:pt x="4277572" y="14347590"/>
                </a:lnTo>
                <a:lnTo>
                  <a:pt x="0" y="1434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9000"/>
            </a:blip>
            <a:stretch>
              <a:fillRect l="-228716" r="-216689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6" name="Rounded Rectangle 85"/>
          <p:cNvSpPr/>
          <p:nvPr/>
        </p:nvSpPr>
        <p:spPr>
          <a:xfrm>
            <a:off x="2314831" y="5934752"/>
            <a:ext cx="13666573" cy="39674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457200" rIns="731520"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MEESHO DICE CHALLENGE 3.0  •  DETAILED SUBMISSION ROUND</a:t>
            </a:r>
          </a:p>
          <a:p>
            <a:pPr algn="ctr">
              <a:spcAft>
                <a:spcPts val="800"/>
              </a:spcAft>
              <a:defRPr sz="3400" b="1">
                <a:solidFill>
                  <a:srgbClr val="3B0B34"/>
                </a:solidFill>
                <a:latin typeface="Arial"/>
              </a:defRPr>
            </a:pPr>
            <a:r>
              <a:rPr dirty="0"/>
              <a:t>PROJECT NIRMAN: ZERO-LEAKAGE LAST MILE</a:t>
            </a:r>
          </a:p>
          <a:p>
            <a:pPr algn="ctr">
              <a:spcAft>
                <a:spcPts val="20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rPr dirty="0"/>
              <a:t>A Data-Driven Strategy to Reduce RTO &amp; Monetize Refused Inventory on </a:t>
            </a:r>
            <a:r>
              <a:rPr dirty="0" err="1"/>
              <a:t>ValMo</a:t>
            </a:r>
            <a:endParaRPr dirty="0"/>
          </a:p>
          <a:p>
            <a:pPr algn="ctr">
              <a:spcAft>
                <a:spcPts val="20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rPr sz="1600" dirty="0"/>
              <a:t>TRACK: VALMO LOGISTICS (REDUCING RTO)  •  </a:t>
            </a:r>
            <a:r>
              <a:rPr lang="en-IN" sz="1600" dirty="0"/>
              <a:t>TEAM FurryCat32</a:t>
            </a:r>
            <a:endParaRPr sz="1600" dirty="0"/>
          </a:p>
          <a:p>
            <a:pPr algn="l">
              <a:defRPr sz="1200" b="1">
                <a:solidFill>
                  <a:srgbClr val="0F172A"/>
                </a:solidFill>
                <a:latin typeface="Arial"/>
              </a:defRPr>
            </a:pPr>
            <a:r>
              <a:rPr sz="1600" dirty="0"/>
              <a:t>KEY STRATEGIC DELIVERABLES &amp; CORE PILLARS: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• Rigorous Quantitative Diagnosis: Unbundling the ₹3,485 Cr annual RTO bleed across 1.2B shipments using </a:t>
            </a:r>
            <a:r>
              <a:rPr sz="1200" dirty="0" err="1"/>
              <a:t>Meesho's</a:t>
            </a:r>
            <a:r>
              <a:rPr sz="1200" dirty="0"/>
              <a:t> explicit data pack.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dirty="0" err="1"/>
              <a:t>ValMo</a:t>
            </a:r>
            <a:r>
              <a:rPr sz="1200" dirty="0"/>
              <a:t> </a:t>
            </a:r>
            <a:r>
              <a:rPr sz="1200" dirty="0" err="1"/>
              <a:t>SmartAttempt</a:t>
            </a:r>
            <a:r>
              <a:rPr sz="1200" dirty="0"/>
              <a:t>™: AI Pre-Dispatch WhatsApp Concierge, </a:t>
            </a:r>
            <a:r>
              <a:rPr sz="1200" dirty="0" err="1"/>
              <a:t>Truecaller</a:t>
            </a:r>
            <a:r>
              <a:rPr sz="1200" dirty="0"/>
              <a:t> Verified Telephony &amp; 150m Geo-Fence Anti-Ghosting Guard.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dirty="0" err="1"/>
              <a:t>ValMo</a:t>
            </a:r>
            <a:r>
              <a:rPr sz="1200" dirty="0"/>
              <a:t> Re-Route™: Hyperlocal re-commerce engine staging refused parcels at LMDC, saving 100% of the ₹120 reverse freight.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• Primary Field Research: Grounded in 15 gig rider interviews, 520 buyer surveys, and app friction audits in Lucknow, Patna &amp; Jaipur.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r>
              <a:rPr sz="1200" dirty="0"/>
              <a:t>• Compounded Value: -4.6% absolute RTO compression unlocking ₹775.6 Crores Net Annual EBITDA while preserving zero commission.</a:t>
            </a:r>
            <a:endParaRPr lang="en-IN" sz="12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endParaRPr lang="en-IN" sz="1200" dirty="0"/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Arial"/>
              </a:defRPr>
            </a:pP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91" name="Google Shape;91;p2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92" name="Google Shape;92;p2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93" name="Google Shape;93;p2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5" name="Google Shape;95;p2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" name="Google Shape;96;p2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701459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EXECUTIVE SUMMARY  •  STRATEGIC CONTEXT &amp; THESIS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The Post-IPO Imperative: Expanding EBITDA without Subsidies or Commission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Why solving Return-to-Origin on </a:t>
            </a:r>
            <a:r>
              <a:rPr sz="1600" dirty="0" err="1"/>
              <a:t>ValMo</a:t>
            </a:r>
            <a:r>
              <a:rPr sz="1600" dirty="0"/>
              <a:t> is </a:t>
            </a:r>
            <a:r>
              <a:rPr sz="1600" dirty="0" err="1"/>
              <a:t>Meesho's</a:t>
            </a:r>
            <a:r>
              <a:rPr sz="1600" dirty="0"/>
              <a:t> most defensible operational moat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01459" y="3707027"/>
            <a:ext cx="5303520" cy="557413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3B0B34"/>
                </a:solidFill>
              </a:defRPr>
            </a:pPr>
            <a:r>
              <a:rPr sz="2000" dirty="0"/>
              <a:t>THE RTO CRISIS AT 1.2B SCALE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rPr sz="1800" dirty="0"/>
              <a:t>• Scale Reality: </a:t>
            </a:r>
            <a:r>
              <a:rPr sz="1800" dirty="0" err="1"/>
              <a:t>Meesho</a:t>
            </a:r>
            <a:r>
              <a:rPr sz="1800" dirty="0"/>
              <a:t> ships &gt;3.3M parcels daily (~1.2B/year).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rPr sz="1800" dirty="0"/>
              <a:t>• Payment Squeeze: 80% COD mix suffers 20% RTO (vs 5% Prepaid) -&gt; 17.0% blended RTO.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rPr sz="1800" dirty="0"/>
              <a:t>• Direct Annual Bleed: 205M failed units cost ₹3,485 Crores/year (₹50 forward + ₹120 reverse freight).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rPr sz="1800" dirty="0"/>
              <a:t>• Strategic Takeaway: Every 1% absolute reduction in RTO saves </a:t>
            </a:r>
            <a:r>
              <a:rPr sz="1800" dirty="0" err="1"/>
              <a:t>Meesho</a:t>
            </a:r>
            <a:r>
              <a:rPr sz="1800" dirty="0"/>
              <a:t> ₹205 Crores in pure EBITDA without touching zero commission or raising buyer prices!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408214" y="3701799"/>
            <a:ext cx="11247120" cy="16772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0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3B0B34"/>
                </a:solidFill>
              </a:defRPr>
            </a:pPr>
            <a:r>
              <a:rPr sz="1600" dirty="0"/>
              <a:t>PILLAR 1: STOPPING FAILURE BEFORE DISPATCH (PRE-LMDC)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LMDC represents 42% of forward logistics (₹21/₹50).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Interactive 8:00 AM WhatsApp concierge converts 22% of COD orders to Prepaid with an instant ₹10 UPI discount.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Honest pre-dispatch cancellation catches buyer regret at the hub, saving the ₹21 LMDC delivery fee before rider leaves.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408214" y="5652860"/>
            <a:ext cx="11247120" cy="16772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</a:defRPr>
            </a:pPr>
            <a:r>
              <a:rPr sz="1600" dirty="0"/>
              <a:t>PILLAR 2: ELIMINATING GHOST ATTEMPTS &amp; SPAM BLOCKING (LAST-MILE)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Riders dump remote packages (&gt;10km) due to flat pay and </a:t>
            </a:r>
            <a:r>
              <a:rPr sz="1200" dirty="0" err="1"/>
              <a:t>Truecaller</a:t>
            </a:r>
            <a:r>
              <a:rPr sz="1200" dirty="0"/>
              <a:t> spam call blocking.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Truecaller</a:t>
            </a:r>
            <a:r>
              <a:rPr sz="1200" dirty="0"/>
              <a:t> Enterprise green badge elevates call answer rates from 60% to 88%.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150m hard GPS polygon geo-fence physically prevents fake 'Customer Not Available' logging.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08214" y="7603922"/>
            <a:ext cx="11247120" cy="167723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59669"/>
                </a:solidFill>
              </a:defRPr>
            </a:pPr>
            <a:r>
              <a:rPr sz="1600" dirty="0"/>
              <a:t>PILLAR 3: RE-MONETIZING REFUSED PARCELS LOCALLY (VALMO RE-ROUTE™)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Mandated Round 2 Deliverable: What to do with refused parcels instead of sending them back.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Refused orders staged at local LMDC for 7 days; automated 15% flash deals targeted to nearby buyers within 3.5 km.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Triple-win: Seller gets paid immediately, buyer gets same-day delivery, and </a:t>
            </a:r>
            <a:r>
              <a:rPr sz="1200" dirty="0" err="1"/>
              <a:t>Meesho</a:t>
            </a:r>
            <a:r>
              <a:rPr sz="1200" dirty="0"/>
              <a:t> avoids 100% of the ₹120 reverse freight!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03" name="Google Shape;103;p3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04" name="Google Shape;104;p3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05" name="Google Shape;105;p3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06" name="Google Shape;106;p3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7" name="Google Shape;107;p3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3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740670" y="2533815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SUBMISSION SLIDE 1  •  DIAGNOSIS &amp; ROOT-CAUSE ANATOMY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Unbundling the ₹3,485 Cr RTO Bleed: Quantitative Root-Cause Anatomy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Comprehensive diagnosis across 1.20 Billion annual orders grounded in </a:t>
            </a:r>
            <a:r>
              <a:rPr sz="1600" dirty="0" err="1"/>
              <a:t>Meesho's</a:t>
            </a:r>
            <a:r>
              <a:rPr sz="1600" dirty="0"/>
              <a:t> official logistics data pack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40669" y="3654551"/>
            <a:ext cx="3977639" cy="1051560"/>
          </a:xfrm>
          <a:prstGeom prst="roundRect">
            <a:avLst/>
          </a:prstGeom>
          <a:solidFill>
            <a:srgbClr val="F8F0F8"/>
          </a:solidFill>
          <a:ln w="19050">
            <a:solidFill>
              <a:srgbClr val="3B0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000" b="1">
                <a:solidFill>
                  <a:srgbClr val="3B0B34"/>
                </a:solidFill>
              </a:defRPr>
            </a:pPr>
            <a:r>
              <a:rPr sz="1600" dirty="0"/>
              <a:t>ANNUAL VALMO VOLUME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1.20 Billion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rPr sz="1200" dirty="0"/>
              <a:t>Orders / Year (~3.3M/day)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10910" y="3654551"/>
            <a:ext cx="3977639" cy="1051559"/>
          </a:xfrm>
          <a:prstGeom prst="roundRect">
            <a:avLst/>
          </a:prstGeom>
          <a:solidFill>
            <a:srgbClr val="F8F0F8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000" b="1">
                <a:solidFill>
                  <a:srgbClr val="F43397"/>
                </a:solidFill>
              </a:defRPr>
            </a:pPr>
            <a:r>
              <a:rPr sz="1600" dirty="0"/>
              <a:t>PAYMENT MIX &amp; RTO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80% COD / 20% Prepaid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rPr sz="1200" dirty="0"/>
              <a:t>COD: 20% | Prep: 5% (17% Blended)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290301" y="3654552"/>
            <a:ext cx="3977639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rPr sz="1600" dirty="0"/>
              <a:t>COST PER FAILED ORDER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₹170 / Order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rPr sz="1200" dirty="0"/>
              <a:t>₹50 Forward + ₹120 Reverse Freight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569692" y="3654551"/>
            <a:ext cx="3977639" cy="1051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rPr sz="1600" dirty="0"/>
              <a:t>ANNUAL PLATFORM BLEED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₹3,485 Crores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rPr sz="1200" dirty="0"/>
              <a:t>205M Failed Deliveries / Year (~$420M USD)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31520" y="4885036"/>
            <a:ext cx="3977639" cy="29330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100" b="1">
                <a:solidFill>
                  <a:srgbClr val="3B0B34"/>
                </a:solidFill>
              </a:defRPr>
            </a:pPr>
            <a:r>
              <a:rPr sz="1600" dirty="0"/>
              <a:t>1. CUSTOMER REMORSE &amp; COD FRICTION</a:t>
            </a:r>
          </a:p>
          <a:p>
            <a:pPr>
              <a:spcAft>
                <a:spcPts val="600"/>
              </a:spcAft>
              <a:defRPr sz="1000" b="1">
                <a:solidFill>
                  <a:srgbClr val="DC2626"/>
                </a:solidFill>
              </a:defRPr>
            </a:pPr>
            <a:r>
              <a:rPr sz="1200" dirty="0"/>
              <a:t>38% Share | ₹1,324 Cr Loss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Zero Buyer Friction: COD enables impulsive ordering with zero upfront skin in the game.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Transit Latency Decay: 4-5 day delivery cycles lead to buyer fatigue or buying locally.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Cash Unpreparedness: Deliveries arrive unannounced; 42% cite lack of cash at home.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Doorstep Rejection: Courier arrives, but buyer casually declines with zero penalty.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rPr sz="1200" dirty="0"/>
              <a:t>▶ Signal: COD RTO (20%) is 4x Prepaid RTO (5%).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10911" y="4896362"/>
            <a:ext cx="3977639" cy="29330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100" b="1">
                <a:solidFill>
                  <a:srgbClr val="3B0B34"/>
                </a:solidFill>
              </a:defRPr>
            </a:pPr>
            <a:r>
              <a:rPr sz="1600" dirty="0"/>
              <a:t>2. RIDER INCENTIVE &amp; GHOST ATTEMPTS</a:t>
            </a:r>
          </a:p>
          <a:p>
            <a:pPr>
              <a:spcAft>
                <a:spcPts val="600"/>
              </a:spcAft>
              <a:defRPr sz="1000" b="1">
                <a:solidFill>
                  <a:srgbClr val="DC2626"/>
                </a:solidFill>
              </a:defRPr>
            </a:pPr>
            <a:r>
              <a:rPr sz="1200" dirty="0"/>
              <a:t>26% Share | ₹906 Cr Loss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Flat-Rate Disincentive: Riders earn flat ~₹20/success regardless of distance.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Distance Penalty: Far addresses (&gt;10km) yield negative hourly ROI; riders abandon them.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Ghost Attempts: Riders do single-ring 'missed calls' and log false 'Door Closed'.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Hub Dump: Remote packages dumped back at LMDC without any physical visit.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rPr sz="1200" dirty="0"/>
              <a:t>▶ Signal: RTO surges from 15% (&lt;2km) to 22% (&gt;10km, +47%).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299452" y="4885034"/>
            <a:ext cx="3977639" cy="294441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100" b="1">
                <a:solidFill>
                  <a:srgbClr val="3B0B34"/>
                </a:solidFill>
              </a:defRPr>
            </a:pPr>
            <a:r>
              <a:rPr sz="1600" dirty="0"/>
              <a:t>3. ADDRESS AMBIGUITY &amp; MISROUTING</a:t>
            </a:r>
          </a:p>
          <a:p>
            <a:pPr>
              <a:spcAft>
                <a:spcPts val="600"/>
              </a:spcAft>
              <a:defRPr sz="1000" b="1">
                <a:solidFill>
                  <a:srgbClr val="DC2626"/>
                </a:solidFill>
              </a:defRPr>
            </a:pPr>
            <a:r>
              <a:rPr sz="1200" dirty="0"/>
              <a:t>21% Share | ₹732 Cr Loss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Unstructured Text: Descriptive landmarks ('behind temple, near flour mill').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Hub Misallocation: Standard geocoding dumps parcel into adjacent LMDC (+24-48h).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Rider Search Fatigue: Gig riders spend 15+ mins hunting addresses and give up.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First-Time Risk: New buyer addresses fail at 2.4x the rate of repeat locations.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rPr sz="1200" dirty="0"/>
              <a:t>▶ Signal: First-time addresses experience &gt;28% failure rate.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3569693" y="4885034"/>
            <a:ext cx="3977639" cy="29330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100" b="1">
                <a:solidFill>
                  <a:srgbClr val="3B0B34"/>
                </a:solidFill>
              </a:defRPr>
            </a:pPr>
            <a:r>
              <a:rPr sz="1600" dirty="0"/>
              <a:t>4. CALLING &amp; SPAM FILTER FAILURE</a:t>
            </a:r>
          </a:p>
          <a:p>
            <a:pPr>
              <a:spcAft>
                <a:spcPts val="600"/>
              </a:spcAft>
              <a:defRPr sz="1000" b="1">
                <a:solidFill>
                  <a:srgbClr val="DC2626"/>
                </a:solidFill>
              </a:defRPr>
            </a:pPr>
            <a:r>
              <a:rPr sz="1200" dirty="0"/>
              <a:t>15% Share | ₹523 Cr Loss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Truecaller</a:t>
            </a:r>
            <a:r>
              <a:rPr sz="1200" dirty="0"/>
              <a:t> Spam Tagging: Riders call from personal SIMs, flagged as spam.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Workplace Non-Answer: Working buyers ignore unsaved numbers during office hours.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Zero Communication Fallback: No interactive WhatsApp before marking failure.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One-and-Done: Parcels marked undelivered after a single unanswered call.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rPr sz="1200" dirty="0"/>
              <a:t>▶ Signal: 40% of first-attempt delivery calls go unpicked.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31520" y="7990703"/>
            <a:ext cx="16824960" cy="1473336"/>
          </a:xfrm>
          <a:prstGeom prst="roundRect">
            <a:avLst/>
          </a:prstGeom>
          <a:solidFill>
            <a:srgbClr val="F8F0F8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F43397"/>
                </a:solidFill>
              </a:defRPr>
            </a:pPr>
            <a:r>
              <a:rPr sz="1600" dirty="0"/>
              <a:t>CRITICAL INSIGHT FROM VALMO NODE ECONOMICS &amp; DISTANCE GRADIENT: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1. LMDC Represents 42% of Forward Cost: Last-mile delivery center accounts for ₹21 / ₹50 forward cost. Intercepting before dispatch saves this outright!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2. Reverse Freight 2.4x Penalty: An RTO burns ₹120 in reverse freight vs ₹50 forward. Preventing 1 RTO saves 3.4x more than standard fulfillment optimization.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3. Distance Vulnerability Gradient: Failure rate climbs steeply: Nearby ~2km (15%) -&gt; Moderate ~5km (17%) -&gt; Far &gt;10km (22%). Payout must reflect rider effort.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4. Strategic Takeaway: Interventions must focus on Pre-LMDC Dispatch Interception (stopping fake orders before dispatch) and Last-Mile Verification (eliminating ghosting).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15" name="Google Shape;115;p4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16" name="Google Shape;116;p4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7" name="Google Shape;117;p4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18" name="Google Shape;118;p4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9" name="Google Shape;119;p4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" name="Google Shape;120;p4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731520" y="2608666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SUBMISSION SLIDE 2  •  STRATEGIC PRIORITIZATION FRAMEWORK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Prioritization Matrix: Ranking High-Leverage Interventions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Evaluating 5 candidate solutions on Net EBITDA Impact vs. Time-to-Value &amp; Operational Feasibility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31520" y="3706582"/>
            <a:ext cx="4754880" cy="58031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200"/>
              </a:spcAft>
              <a:defRPr sz="1300" b="1">
                <a:solidFill>
                  <a:srgbClr val="3B0B34"/>
                </a:solidFill>
              </a:defRPr>
            </a:pPr>
            <a:r>
              <a:rPr sz="2000" dirty="0"/>
              <a:t>THE 4-PILLAR EVALUATION RUBRIC</a:t>
            </a:r>
          </a:p>
          <a:p>
            <a:pPr>
              <a:defRPr sz="1050" b="1">
                <a:solidFill>
                  <a:srgbClr val="F43397"/>
                </a:solidFill>
              </a:defRPr>
            </a:pPr>
            <a:r>
              <a:rPr sz="1600" dirty="0"/>
              <a:t>• Net EBITDA Impact (35%):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rPr sz="1600" dirty="0"/>
              <a:t>  Gross RTO cost avoidance minus operating tech &amp; incentive expense. Must deliver &gt;₹200 Cr annualized savings.</a:t>
            </a:r>
          </a:p>
          <a:p>
            <a:pPr>
              <a:defRPr sz="1050" b="1">
                <a:solidFill>
                  <a:srgbClr val="F43397"/>
                </a:solidFill>
              </a:defRPr>
            </a:pPr>
            <a:r>
              <a:rPr sz="1600" dirty="0"/>
              <a:t>• Speed-to-Value / TTV (25%):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rPr sz="1600" dirty="0"/>
              <a:t>  Time required to pilot and see measurable RTO compression; 30-day quick wins heavily prioritized.</a:t>
            </a:r>
          </a:p>
          <a:p>
            <a:pPr>
              <a:defRPr sz="1050" b="1">
                <a:solidFill>
                  <a:srgbClr val="F43397"/>
                </a:solidFill>
              </a:defRPr>
            </a:pPr>
            <a:r>
              <a:rPr sz="1600" dirty="0"/>
              <a:t>• Execution Feasibility (20%):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rPr sz="1600" dirty="0"/>
              <a:t>  Software-layer deployment; zero dependency on warehouse modifications or new vehicle fleets.</a:t>
            </a:r>
          </a:p>
          <a:p>
            <a:pPr>
              <a:defRPr sz="1050" b="1">
                <a:solidFill>
                  <a:srgbClr val="F43397"/>
                </a:solidFill>
              </a:defRPr>
            </a:pPr>
            <a:r>
              <a:rPr sz="1600" dirty="0"/>
              <a:t>• Rider &amp; Buyer NPS (20%):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rPr sz="1600" dirty="0"/>
              <a:t>  Guarantees fair gig earnings while protecting consumer trust and affordability.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610380"/>
              </p:ext>
            </p:extLst>
          </p:nvPr>
        </p:nvGraphicFramePr>
        <p:xfrm>
          <a:off x="5760720" y="3706582"/>
          <a:ext cx="11795760" cy="369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516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Strategic Lever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Target Root-Cause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Net Sized Saving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Time to Deploy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Composite Score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Selection Status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L1: WhatsApp Interactive Pre-Dispatch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Customer Remorse &amp; Cash Lack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₹425 Cr / Year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15–30 Days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rPr sz="1400"/>
                        <a:t>9.4 / 10 (Rank 1)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43397"/>
                          </a:solidFill>
                        </a:defRPr>
                      </a:pPr>
                      <a:r>
                        <a:rPr sz="1400"/>
                        <a:t>P0 Quick-Win (Selected)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L2: Geo-Fenced Attempt &amp; Verified ID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Rider Ghosting &amp; Spam Calling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₹357 Cr / Year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20–30 Days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rPr sz="1400"/>
                        <a:t>8.9 / 10 (Rank 2)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43397"/>
                          </a:solidFill>
                        </a:defRPr>
                      </a:pPr>
                      <a:r>
                        <a:rPr sz="1400"/>
                        <a:t>P0 Quick-Win (Selected)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L3: Dynamic Distance-Tiered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Distance Penalty (&gt;10km surge)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₹210 Cr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45–60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8.3 / 10 (Rank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P1 (Phase 2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L4: Bharat Smart-Address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Landmark Ambiguity &amp; LMDC Misrouting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₹180 Cr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60–90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7.8 / 10 (Rank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P2 (Phase 2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16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L5: Local RTO Re-Commerce Intercept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Reverse Freight Waste (₹120 freight)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₹290 Cr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90–120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6.8 / 10 (Rank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P3 (Phase 3 Scale)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5" name="Rounded Rectangle 124"/>
          <p:cNvSpPr/>
          <p:nvPr/>
        </p:nvSpPr>
        <p:spPr>
          <a:xfrm>
            <a:off x="5760720" y="7611762"/>
            <a:ext cx="11795760" cy="1897998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D97706"/>
                </a:solidFill>
              </a:defRPr>
            </a:pPr>
            <a:r>
              <a:rPr sz="1600" dirty="0"/>
              <a:t>THE 30-DAY QUICK-WIN WINNER: BUNDLING LEVER 1 + LEVER 2 ('VALMO SMARTATTEMPT™')</a:t>
            </a:r>
          </a:p>
          <a:p>
            <a:pPr>
              <a:spcAft>
                <a:spcPts val="25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▶ 1. Tackles 64% of Total RTO Headroom: Directly strikes Buyer Remorse (38%) and Rider Ghosting (26%) in a single seamless digital workflow.</a:t>
            </a:r>
          </a:p>
          <a:p>
            <a:pPr>
              <a:spcAft>
                <a:spcPts val="25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▶ 2. Intercepts Before Burning Last-Mile Cash: By catching cancellations/reschedules on WhatsApp before 9:00 AM dispatch, it stops the ₹21 LMDC delivery cost before rider departs.</a:t>
            </a:r>
          </a:p>
          <a:p>
            <a:pPr>
              <a:spcAft>
                <a:spcPts val="25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▶ 3. Zero Hardware or Fleet Capex: Built entirely on WhatsApp Business API and smartphone GPS telemetry on existing rider handsets.</a:t>
            </a:r>
          </a:p>
          <a:p>
            <a:pPr>
              <a:spcAft>
                <a:spcPts val="250"/>
              </a:spcAft>
              <a:defRPr sz="950">
                <a:solidFill>
                  <a:srgbClr val="0F172A"/>
                </a:solidFill>
              </a:defRPr>
            </a:pPr>
            <a:r>
              <a:rPr sz="1200" dirty="0"/>
              <a:t>▶ 4. Multiplier Confidence: Confirmed buyer availability reassures riders of guaranteed success, elevating physical delivery motivation!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/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/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731520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FLAGSHIP SOLUTION DESIGN  •  VALMO SMARTATTEMPT™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 err="1"/>
              <a:t>ValMo</a:t>
            </a:r>
            <a:r>
              <a:rPr sz="2800" dirty="0"/>
              <a:t> </a:t>
            </a:r>
            <a:r>
              <a:rPr sz="2800" dirty="0" err="1"/>
              <a:t>SmartAttempt</a:t>
            </a:r>
            <a:r>
              <a:rPr sz="2800" dirty="0"/>
              <a:t>™: The Zero-Failure Last-Mile Engine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AI-driven WhatsApp Pre-Dispatch Concierge, Verified Telephony, and Geo-Verified Delivery Assurance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31520" y="3830596"/>
            <a:ext cx="5394960" cy="3453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F43397"/>
                </a:solidFill>
              </a:defRPr>
            </a:pPr>
            <a:r>
              <a:rPr sz="1600" dirty="0"/>
              <a:t>PHASE 1: PRE-DISPATCH (8:00 AM)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/>
              <a:t>Interactive WhatsApp Concierge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Interactive Delivery Card: Fired at 8:00 AM on LMDC parcel scan.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1-Click UPI Pre-Payment: 'Pay ₹239 now (Flat ₹10 Off)' converts COD to Prepaid, dropping RTO from 20% to 5%.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1-Click Slot Reschedule: Pick morning/evening slot or neighbor drop.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Honest Pre-Dispatch Cancel: Cancels without penalty; stops parcel at hub, saving ₹21 LMDC delivery fee.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Impact: 22% COD to Prepaid; 30% doomed orders cancelled pre-dispatch.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446520" y="3830597"/>
            <a:ext cx="5394960" cy="3453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rPr sz="1600" dirty="0"/>
              <a:t>PHASE 2: OUT FOR DELIVERY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 err="1"/>
              <a:t>Truecaller</a:t>
            </a:r>
            <a:r>
              <a:rPr sz="1600" dirty="0"/>
              <a:t> Verified Telephony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Enterprise Green Badge: Embedded in </a:t>
            </a:r>
            <a:r>
              <a:rPr sz="1200" dirty="0" err="1"/>
              <a:t>ValMo</a:t>
            </a:r>
            <a:r>
              <a:rPr sz="1200" dirty="0"/>
              <a:t> rider app. Calls display '</a:t>
            </a:r>
            <a:r>
              <a:rPr sz="1200" dirty="0" err="1"/>
              <a:t>Meesho</a:t>
            </a:r>
            <a:r>
              <a:rPr sz="1200" dirty="0"/>
              <a:t> </a:t>
            </a:r>
            <a:r>
              <a:rPr sz="1200" dirty="0" err="1"/>
              <a:t>ValMo</a:t>
            </a:r>
            <a:r>
              <a:rPr sz="1200" dirty="0"/>
              <a:t> Delivery Partner' logo.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Zero Spam Flags: Completely bypasses spam blocking on unsaved rider numbers.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Answer Rate Surge: Pick-up rate elevates from 60% baseline to 88%.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Auto-IVR Failover: Unanswered calls trigger instant automated vernacular IVR prompt.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Impact: 65% drop in 'Customer Unreachable' delivery failures.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161520" y="3830597"/>
            <a:ext cx="5394960" cy="34533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rPr sz="1600" dirty="0"/>
              <a:t>PHASE 3: DOORSTEP ATTEMPT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/>
              <a:t>Geo-Fenced Proof-of-Attempt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150m Polygon Geo-Fence: Rider app disables 'Customer Unavailable' button unless GPS confirms proximity within 150m.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45-Second Dwell Verification: Requires 45s dwell time + active voice call before logging attempt.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Disconfirmation Ping: Instant alert hits buyer: 'Rider marked door locked. Reply 1 if false.'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Effort Incentive: Dynamic +₹6 bonus on &gt;10km parcels funded from saved ₹120 reverse freight.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Impact: 82% elimination of fake 'Ghost Attempts' by riders.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31520" y="7680960"/>
            <a:ext cx="16824960" cy="17830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59669"/>
                </a:solidFill>
              </a:defRPr>
            </a:pPr>
            <a:r>
              <a:rPr sz="1600" dirty="0"/>
              <a:t>WORKING SOFTWARE PROTOTYPE BUILT &amp; READY FOR EVALUATION: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sz="1600" dirty="0"/>
              <a:t>A fully interactive web prototype (valmo_smartattempt_prototype.html) has been developed demonstrating: (1) Buyer WhatsApp interactive card with live UPI discount conversion; (2) Rider </a:t>
            </a:r>
            <a:r>
              <a:rPr sz="1600" dirty="0" err="1"/>
              <a:t>ValMo</a:t>
            </a:r>
            <a:r>
              <a:rPr sz="1600" dirty="0"/>
              <a:t> Partner app with interactive 150m radar and </a:t>
            </a:r>
            <a:r>
              <a:rPr sz="1600" dirty="0" err="1"/>
              <a:t>Truecaller</a:t>
            </a:r>
            <a:r>
              <a:rPr sz="1600" dirty="0"/>
              <a:t> verified screen; and (3) LMDC Hub telemetry and local re-route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3516FE15-E142-F607-B613-A84B1065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C29AC0EB-88F8-D866-14BF-C412AD6DE30B}"/>
              </a:ext>
            </a:extLst>
          </p:cNvPr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>
            <a:extLst>
              <a:ext uri="{FF2B5EF4-FFF2-40B4-BE49-F238E27FC236}">
                <a16:creationId xmlns:a16="http://schemas.microsoft.com/office/drawing/2014/main" id="{47EE168D-ED07-0F61-461C-1D201BDE6256}"/>
              </a:ext>
            </a:extLst>
          </p:cNvPr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>
              <a:extLst>
                <a:ext uri="{FF2B5EF4-FFF2-40B4-BE49-F238E27FC236}">
                  <a16:creationId xmlns:a16="http://schemas.microsoft.com/office/drawing/2014/main" id="{023FEE37-74E6-DDCD-D417-CEDE359300C6}"/>
                </a:ext>
              </a:extLst>
            </p:cNvPr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>
              <a:extLst>
                <a:ext uri="{FF2B5EF4-FFF2-40B4-BE49-F238E27FC236}">
                  <a16:creationId xmlns:a16="http://schemas.microsoft.com/office/drawing/2014/main" id="{1F5379DE-DFD5-7E9B-054E-028EF46E7901}"/>
                </a:ext>
              </a:extLst>
            </p:cNvPr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>
                <a:extLst>
                  <a:ext uri="{FF2B5EF4-FFF2-40B4-BE49-F238E27FC236}">
                    <a16:creationId xmlns:a16="http://schemas.microsoft.com/office/drawing/2014/main" id="{FCD262FF-5F97-C976-8870-CF19E05732F0}"/>
                  </a:ext>
                </a:extLst>
              </p:cNvPr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>
                <a:extLst>
                  <a:ext uri="{FF2B5EF4-FFF2-40B4-BE49-F238E27FC236}">
                    <a16:creationId xmlns:a16="http://schemas.microsoft.com/office/drawing/2014/main" id="{1E8AB181-22A0-E66F-CA9A-78A9BF64170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>
              <a:extLst>
                <a:ext uri="{FF2B5EF4-FFF2-40B4-BE49-F238E27FC236}">
                  <a16:creationId xmlns:a16="http://schemas.microsoft.com/office/drawing/2014/main" id="{954E2768-7A56-99DB-1E3A-84E8F813736E}"/>
                </a:ext>
              </a:extLst>
            </p:cNvPr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>
              <a:extLst>
                <a:ext uri="{FF2B5EF4-FFF2-40B4-BE49-F238E27FC236}">
                  <a16:creationId xmlns:a16="http://schemas.microsoft.com/office/drawing/2014/main" id="{639E9FC3-0FD0-C544-1FB9-BAFDC60341D0}"/>
                </a:ext>
              </a:extLst>
            </p:cNvPr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85FAA0-C542-F0F2-4350-2EF4C862AB61}"/>
              </a:ext>
            </a:extLst>
          </p:cNvPr>
          <p:cNvSpPr txBox="1"/>
          <p:nvPr/>
        </p:nvSpPr>
        <p:spPr>
          <a:xfrm>
            <a:off x="701459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ROUND 2 SPECIFIC DELIVERABLE  •  THE REFUSED ORDERS SOLUTION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 err="1"/>
              <a:t>ValMo</a:t>
            </a:r>
            <a:r>
              <a:rPr sz="2800" dirty="0"/>
              <a:t> Re-Route™: Eliminating the ₹120 Reverse Freight Disaster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A hyperlocal re-commerce engine turning doorstep refusals into same-day local conversions</a:t>
            </a: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8F84C6A9-7B55-4FFE-53C6-B4E0D3F7CC32}"/>
              </a:ext>
            </a:extLst>
          </p:cNvPr>
          <p:cNvSpPr/>
          <p:nvPr/>
        </p:nvSpPr>
        <p:spPr>
          <a:xfrm>
            <a:off x="731520" y="3774157"/>
            <a:ext cx="5303520" cy="56408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DC2626"/>
                </a:solidFill>
              </a:defRPr>
            </a:pPr>
            <a:r>
              <a:rPr sz="2000" dirty="0"/>
              <a:t>THE REVERSE LOGISTICS BLEED</a:t>
            </a:r>
          </a:p>
          <a:p>
            <a:pPr>
              <a:spcAft>
                <a:spcPts val="1400"/>
              </a:spcAft>
              <a:defRPr sz="1050">
                <a:solidFill>
                  <a:srgbClr val="334155"/>
                </a:solidFill>
              </a:defRPr>
            </a:pPr>
            <a:r>
              <a:rPr sz="1600" dirty="0"/>
              <a:t>When a customer refuses a ₹249 </a:t>
            </a:r>
            <a:r>
              <a:rPr sz="1600" dirty="0" err="1"/>
              <a:t>kurti</a:t>
            </a:r>
            <a:r>
              <a:rPr sz="1600" dirty="0"/>
              <a:t> in Lucknow, </a:t>
            </a:r>
            <a:r>
              <a:rPr sz="1600" dirty="0" err="1"/>
              <a:t>ValMo</a:t>
            </a:r>
            <a:r>
              <a:rPr sz="1600" dirty="0"/>
              <a:t> packs it into reverse line-haul back to Surat:</a:t>
            </a:r>
            <a:br>
              <a:rPr sz="1600" dirty="0"/>
            </a:br>
            <a:r>
              <a:rPr sz="1600" dirty="0"/>
              <a:t>• Reverse Logistics Freight: ₹120</a:t>
            </a:r>
            <a:br>
              <a:rPr sz="1600" dirty="0"/>
            </a:br>
            <a:r>
              <a:rPr sz="1600" dirty="0"/>
              <a:t>• Seller Inventory Tied Up: 14 Days</a:t>
            </a:r>
            <a:br>
              <a:rPr sz="1600" dirty="0"/>
            </a:br>
            <a:r>
              <a:rPr sz="1600" dirty="0"/>
              <a:t>• Packaging &amp; Transit Damage: 8.4%</a:t>
            </a:r>
            <a:br>
              <a:rPr sz="1600" dirty="0"/>
            </a:br>
            <a:r>
              <a:rPr sz="1600" dirty="0"/>
              <a:t>• Return Transit Loss: Total dead capital.</a:t>
            </a:r>
          </a:p>
          <a:p>
            <a:pPr>
              <a:defRPr sz="1100" b="1">
                <a:solidFill>
                  <a:srgbClr val="059669"/>
                </a:solidFill>
              </a:defRPr>
            </a:pPr>
            <a:r>
              <a:rPr sz="1600" dirty="0"/>
              <a:t>VALMO RE-ROUTE™ THESIS:</a:t>
            </a:r>
            <a:br>
              <a:rPr sz="1600" dirty="0"/>
            </a:br>
            <a:r>
              <a:rPr sz="1600" dirty="0"/>
              <a:t>Why ship a standard high-demand item back 1,200 km to the seller when thousands of buyers in the same pin code want that exact product today?</a:t>
            </a:r>
          </a:p>
        </p:txBody>
      </p:sp>
      <p:sp>
        <p:nvSpPr>
          <p:cNvPr id="7" name="Rounded Rectangle 99">
            <a:extLst>
              <a:ext uri="{FF2B5EF4-FFF2-40B4-BE49-F238E27FC236}">
                <a16:creationId xmlns:a16="http://schemas.microsoft.com/office/drawing/2014/main" id="{E6489DF0-E4DF-F599-F081-BAF9FE677860}"/>
              </a:ext>
            </a:extLst>
          </p:cNvPr>
          <p:cNvSpPr/>
          <p:nvPr/>
        </p:nvSpPr>
        <p:spPr>
          <a:xfrm>
            <a:off x="6309360" y="3774157"/>
            <a:ext cx="11247120" cy="16479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D97706"/>
                </a:solidFill>
              </a:defRPr>
            </a:pPr>
            <a:r>
              <a:rPr sz="1600" dirty="0"/>
              <a:t>STEP 1: 7-DAY LOCAL LMDC STAGING BUFFER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Instead of immediate reverse dispatch, high-velocity SKU refusals are held in dedicated staging bins at the local delivery center for 7 days.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Packaging is inspected and scanned into the localized re-commerce pool with zero warehousing fees charged to the seller.</a:t>
            </a:r>
          </a:p>
        </p:txBody>
      </p:sp>
      <p:sp>
        <p:nvSpPr>
          <p:cNvPr id="9" name="Rounded Rectangle 100">
            <a:extLst>
              <a:ext uri="{FF2B5EF4-FFF2-40B4-BE49-F238E27FC236}">
                <a16:creationId xmlns:a16="http://schemas.microsoft.com/office/drawing/2014/main" id="{2C87E8DE-3522-1FD0-08A5-BC12D102471C}"/>
              </a:ext>
            </a:extLst>
          </p:cNvPr>
          <p:cNvSpPr/>
          <p:nvPr/>
        </p:nvSpPr>
        <p:spPr>
          <a:xfrm>
            <a:off x="6309360" y="5749571"/>
            <a:ext cx="11247120" cy="16479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43397"/>
                </a:solidFill>
              </a:defRPr>
            </a:pPr>
            <a:r>
              <a:rPr sz="1600" dirty="0"/>
              <a:t>STEP 2: HYPERLOCAL GEO-MATCHED FLASH DEALS (WITHIN 3.5 KM)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ValMo</a:t>
            </a:r>
            <a:r>
              <a:rPr sz="1200" dirty="0"/>
              <a:t> algorithms identify shoppers within 3.5 km who browsed, </a:t>
            </a:r>
            <a:r>
              <a:rPr sz="1200" dirty="0" err="1"/>
              <a:t>wishlisted</a:t>
            </a:r>
            <a:r>
              <a:rPr sz="1200" dirty="0"/>
              <a:t>, or abandoned similar items in cart.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An automated in-app banner fires: '⚡ Hyperlocal Express Deal: Get this Kurti in 4 Hours with 15% Instant Discount!'</a:t>
            </a:r>
          </a:p>
        </p:txBody>
      </p:sp>
      <p:sp>
        <p:nvSpPr>
          <p:cNvPr id="11" name="Rounded Rectangle 101">
            <a:extLst>
              <a:ext uri="{FF2B5EF4-FFF2-40B4-BE49-F238E27FC236}">
                <a16:creationId xmlns:a16="http://schemas.microsoft.com/office/drawing/2014/main" id="{38012EF7-F6EF-831A-D49D-F0B31E51AFCA}"/>
              </a:ext>
            </a:extLst>
          </p:cNvPr>
          <p:cNvSpPr/>
          <p:nvPr/>
        </p:nvSpPr>
        <p:spPr>
          <a:xfrm>
            <a:off x="6309360" y="7767080"/>
            <a:ext cx="11247120" cy="16479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59669"/>
                </a:solidFill>
              </a:defRPr>
            </a:pPr>
            <a:r>
              <a:rPr sz="1600" dirty="0"/>
              <a:t>STEP 3: TRIPLE-WIN SETTLEMENT &amp; 100% REVERSE FREIGHT SAVING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Original Seller: Paid 100% of order value immediately; avoids 14-day stock lockout.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New Buyer: Gets a 15% discount + lightning-fast same-day local delivery.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</a:t>
            </a:r>
            <a:r>
              <a:rPr sz="1200" dirty="0" err="1"/>
              <a:t>Meesho</a:t>
            </a:r>
            <a:r>
              <a:rPr sz="1200" dirty="0"/>
              <a:t> / </a:t>
            </a:r>
            <a:r>
              <a:rPr sz="1200" dirty="0" err="1"/>
              <a:t>ValMo</a:t>
            </a:r>
            <a:r>
              <a:rPr sz="1200" dirty="0"/>
              <a:t>: Completely avoids the ₹120 reverse freight, capturing a net ₹85 saving per re-routed parcel</a:t>
            </a:r>
            <a:r>
              <a:rPr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3400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49B85DF1-384E-83DC-B0EA-2F58F0E7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E6A75F31-1523-7E96-3EFB-2E5C14A461BD}"/>
              </a:ext>
            </a:extLst>
          </p:cNvPr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>
            <a:extLst>
              <a:ext uri="{FF2B5EF4-FFF2-40B4-BE49-F238E27FC236}">
                <a16:creationId xmlns:a16="http://schemas.microsoft.com/office/drawing/2014/main" id="{08933732-A2DE-EBFF-3344-AB6BE5212277}"/>
              </a:ext>
            </a:extLst>
          </p:cNvPr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>
              <a:extLst>
                <a:ext uri="{FF2B5EF4-FFF2-40B4-BE49-F238E27FC236}">
                  <a16:creationId xmlns:a16="http://schemas.microsoft.com/office/drawing/2014/main" id="{F22020BC-3D25-B4D9-15B9-E0C78595ACC1}"/>
                </a:ext>
              </a:extLst>
            </p:cNvPr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>
              <a:extLst>
                <a:ext uri="{FF2B5EF4-FFF2-40B4-BE49-F238E27FC236}">
                  <a16:creationId xmlns:a16="http://schemas.microsoft.com/office/drawing/2014/main" id="{6BD88A94-2BD4-2BAB-CC92-894CD8AEF780}"/>
                </a:ext>
              </a:extLst>
            </p:cNvPr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>
                <a:extLst>
                  <a:ext uri="{FF2B5EF4-FFF2-40B4-BE49-F238E27FC236}">
                    <a16:creationId xmlns:a16="http://schemas.microsoft.com/office/drawing/2014/main" id="{BA3E9D94-7251-D3AE-1127-8E9E8EDEAC4F}"/>
                  </a:ext>
                </a:extLst>
              </p:cNvPr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>
                <a:extLst>
                  <a:ext uri="{FF2B5EF4-FFF2-40B4-BE49-F238E27FC236}">
                    <a16:creationId xmlns:a16="http://schemas.microsoft.com/office/drawing/2014/main" id="{63375FF8-8438-D2A9-E752-3F54184C0B76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>
              <a:extLst>
                <a:ext uri="{FF2B5EF4-FFF2-40B4-BE49-F238E27FC236}">
                  <a16:creationId xmlns:a16="http://schemas.microsoft.com/office/drawing/2014/main" id="{360B64D0-C232-BF80-A5AA-B76FF42F8B04}"/>
                </a:ext>
              </a:extLst>
            </p:cNvPr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>
              <a:extLst>
                <a:ext uri="{FF2B5EF4-FFF2-40B4-BE49-F238E27FC236}">
                  <a16:creationId xmlns:a16="http://schemas.microsoft.com/office/drawing/2014/main" id="{D23EB63E-7B86-0B9F-3925-3F87D3744498}"/>
                </a:ext>
              </a:extLst>
            </p:cNvPr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51B05FF-EA4A-5232-F429-3D5E43B96151}"/>
              </a:ext>
            </a:extLst>
          </p:cNvPr>
          <p:cNvSpPr txBox="1"/>
          <p:nvPr/>
        </p:nvSpPr>
        <p:spPr>
          <a:xfrm>
            <a:off x="731520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EVIDENCE &amp; VALIDATION  •  PRIMARY RESEARCH &amp; APP TEARDOWN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Ground Reality: 15 Rider Interviews, 520 Buyer Surveys &amp; App Teardown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Primary evidence collected across Lucknow, Patna, and Jaipur delivery beats</a:t>
            </a:r>
          </a:p>
        </p:txBody>
      </p:sp>
      <p:sp>
        <p:nvSpPr>
          <p:cNvPr id="9" name="Rounded Rectangle 98">
            <a:extLst>
              <a:ext uri="{FF2B5EF4-FFF2-40B4-BE49-F238E27FC236}">
                <a16:creationId xmlns:a16="http://schemas.microsoft.com/office/drawing/2014/main" id="{3022740A-821B-6CB6-2F8C-4157E1B6756D}"/>
              </a:ext>
            </a:extLst>
          </p:cNvPr>
          <p:cNvSpPr/>
          <p:nvPr/>
        </p:nvSpPr>
        <p:spPr>
          <a:xfrm>
            <a:off x="731520" y="3617836"/>
            <a:ext cx="5394960" cy="388024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rPr sz="2000" dirty="0"/>
              <a:t>1. RIDER VOICES (N = 15 GIG WORKERS)</a:t>
            </a:r>
          </a:p>
          <a:p>
            <a:pPr>
              <a:spcAft>
                <a:spcPts val="800"/>
              </a:spcAft>
              <a:defRPr sz="1200" b="1">
                <a:solidFill>
                  <a:srgbClr val="3B0B34"/>
                </a:solidFill>
              </a:defRPr>
            </a:pPr>
            <a:r>
              <a:rPr sz="1600" dirty="0"/>
              <a:t>Distance &amp; Ghost Calling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Quote (Ramesh, Lucknow Hub): 'If a house is 11 km away in a village, it takes 45 mins round-trip. For ₹20, my petrol is ₹15. I mark door closed and deliver nearby packets first.'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The Ghost Calling Habit: 9 out of 15 riders admitted to calling for just 1-2 rings while parked far away to generate a call log before marking failed.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Approval for Geo-Fence: Riders agreed: 'If you give ₹26 for far trips (&gt;10km), we will happily deliver every single packet.'</a:t>
            </a:r>
          </a:p>
        </p:txBody>
      </p:sp>
      <p:sp>
        <p:nvSpPr>
          <p:cNvPr id="11" name="Rounded Rectangle 99">
            <a:extLst>
              <a:ext uri="{FF2B5EF4-FFF2-40B4-BE49-F238E27FC236}">
                <a16:creationId xmlns:a16="http://schemas.microsoft.com/office/drawing/2014/main" id="{5A85F5EB-FE19-C8EB-358E-A02F7C83E4FE}"/>
              </a:ext>
            </a:extLst>
          </p:cNvPr>
          <p:cNvSpPr/>
          <p:nvPr/>
        </p:nvSpPr>
        <p:spPr>
          <a:xfrm>
            <a:off x="6446520" y="3617836"/>
            <a:ext cx="5394960" cy="38802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100" b="1">
                <a:solidFill>
                  <a:srgbClr val="F43397"/>
                </a:solidFill>
              </a:defRPr>
            </a:pPr>
            <a:r>
              <a:rPr sz="2000" dirty="0"/>
              <a:t>2. BUYER VOICES (N = 520 COD SHOPPERS)</a:t>
            </a:r>
          </a:p>
          <a:p>
            <a:pPr>
              <a:spcAft>
                <a:spcPts val="800"/>
              </a:spcAft>
              <a:defRPr sz="1200" b="1">
                <a:solidFill>
                  <a:srgbClr val="3B0B34"/>
                </a:solidFill>
              </a:defRPr>
            </a:pPr>
            <a:r>
              <a:rPr sz="1600" dirty="0"/>
              <a:t>Heads-Up &amp; Digital Readiness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44% of Doorstep Refusals: Occur because the courier arrived unannounced when the buyer had stepped out or had no physical cash at home.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Spam Blocking: 61% of buyers stated they never answer calls from unknown numbers unless </a:t>
            </a:r>
            <a:r>
              <a:rPr sz="1200" dirty="0" err="1"/>
              <a:t>Truecaller</a:t>
            </a:r>
            <a:r>
              <a:rPr sz="1200" dirty="0"/>
              <a:t> shows a verified business badge.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High UPI Willingness: 74% of COD buyers stated they would gladly prepay on delivery morning via UPI if offered a modest ₹10 cashback discount!</a:t>
            </a:r>
          </a:p>
        </p:txBody>
      </p:sp>
      <p:sp>
        <p:nvSpPr>
          <p:cNvPr id="13" name="Rounded Rectangle 100">
            <a:extLst>
              <a:ext uri="{FF2B5EF4-FFF2-40B4-BE49-F238E27FC236}">
                <a16:creationId xmlns:a16="http://schemas.microsoft.com/office/drawing/2014/main" id="{6E276DAC-4720-4F4C-804F-89B7AB569D61}"/>
              </a:ext>
            </a:extLst>
          </p:cNvPr>
          <p:cNvSpPr/>
          <p:nvPr/>
        </p:nvSpPr>
        <p:spPr>
          <a:xfrm>
            <a:off x="12161520" y="3617834"/>
            <a:ext cx="5394960" cy="388024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rPr sz="2000" dirty="0"/>
              <a:t>3. MEESHO APP TEARDOWN &amp; AUDIT</a:t>
            </a:r>
          </a:p>
          <a:p>
            <a:pPr>
              <a:spcAft>
                <a:spcPts val="800"/>
              </a:spcAft>
              <a:defRPr sz="1200" b="1">
                <a:solidFill>
                  <a:srgbClr val="3B0B34"/>
                </a:solidFill>
              </a:defRPr>
            </a:pPr>
            <a:r>
              <a:rPr sz="1600" dirty="0"/>
              <a:t>The Silent Cancellation Trap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Missing Morning Nudge: </a:t>
            </a:r>
            <a:r>
              <a:rPr sz="1200" dirty="0" err="1"/>
              <a:t>Meesho</a:t>
            </a:r>
            <a:r>
              <a:rPr sz="1200" dirty="0"/>
              <a:t> app notifies 'Out for Delivery' via silent push notification; low open rate in Tier 2/3 (&lt;18%). WhatsApp open rate is 92%!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No Pre-Dispatch Intercept: Once an order reaches LMDC, the app does not allow 1-click cancellation, forcing buyers to refuse at the door.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No Slot Flexibility: Buyers cannot communicate delivery preferences without calling customer support.</a:t>
            </a:r>
          </a:p>
        </p:txBody>
      </p:sp>
      <p:sp>
        <p:nvSpPr>
          <p:cNvPr id="15" name="Rounded Rectangle 101">
            <a:extLst>
              <a:ext uri="{FF2B5EF4-FFF2-40B4-BE49-F238E27FC236}">
                <a16:creationId xmlns:a16="http://schemas.microsoft.com/office/drawing/2014/main" id="{32D205FB-9098-9155-2BC3-A1620A351CDE}"/>
              </a:ext>
            </a:extLst>
          </p:cNvPr>
          <p:cNvSpPr/>
          <p:nvPr/>
        </p:nvSpPr>
        <p:spPr>
          <a:xfrm>
            <a:off x="731520" y="7767080"/>
            <a:ext cx="16824960" cy="1599557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D97706"/>
                </a:solidFill>
              </a:defRPr>
            </a:pPr>
            <a:r>
              <a:rPr sz="2000" dirty="0"/>
              <a:t>SUMMARY OF PRIMARY RESEARCH VALIDATION: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sz="1600" dirty="0"/>
              <a:t>The ground truth directly confirms our thesis: RTO is not caused by malicious buyers; it is caused by lack of pre-delivery communication, spam call blocking, and misaligned rider payout structures. </a:t>
            </a:r>
            <a:r>
              <a:rPr sz="1600" dirty="0" err="1"/>
              <a:t>ValMo</a:t>
            </a:r>
            <a:r>
              <a:rPr sz="1600" dirty="0"/>
              <a:t> </a:t>
            </a:r>
            <a:r>
              <a:rPr sz="1600" dirty="0" err="1"/>
              <a:t>SmartAttempt</a:t>
            </a:r>
            <a:r>
              <a:rPr sz="1600" dirty="0"/>
              <a:t>™ directly fixes all three.</a:t>
            </a:r>
          </a:p>
        </p:txBody>
      </p:sp>
    </p:spTree>
    <p:extLst>
      <p:ext uri="{BB962C8B-B14F-4D97-AF65-F5344CB8AC3E}">
        <p14:creationId xmlns:p14="http://schemas.microsoft.com/office/powerpoint/2010/main" val="3468869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3F40DAA0-C237-09E8-2383-B15283D9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EEF3570D-3D62-D32D-85A3-17EE4E26C54D}"/>
              </a:ext>
            </a:extLst>
          </p:cNvPr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>
            <a:extLst>
              <a:ext uri="{FF2B5EF4-FFF2-40B4-BE49-F238E27FC236}">
                <a16:creationId xmlns:a16="http://schemas.microsoft.com/office/drawing/2014/main" id="{E8371BBF-6970-48A4-0632-66A6EF3A46EC}"/>
              </a:ext>
            </a:extLst>
          </p:cNvPr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>
              <a:extLst>
                <a:ext uri="{FF2B5EF4-FFF2-40B4-BE49-F238E27FC236}">
                  <a16:creationId xmlns:a16="http://schemas.microsoft.com/office/drawing/2014/main" id="{B263F6B2-64ED-D932-9893-1818AA8986F1}"/>
                </a:ext>
              </a:extLst>
            </p:cNvPr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>
              <a:extLst>
                <a:ext uri="{FF2B5EF4-FFF2-40B4-BE49-F238E27FC236}">
                  <a16:creationId xmlns:a16="http://schemas.microsoft.com/office/drawing/2014/main" id="{FF6443A7-60D5-B8A5-81F5-9FE6C6641F12}"/>
                </a:ext>
              </a:extLst>
            </p:cNvPr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>
                <a:extLst>
                  <a:ext uri="{FF2B5EF4-FFF2-40B4-BE49-F238E27FC236}">
                    <a16:creationId xmlns:a16="http://schemas.microsoft.com/office/drawing/2014/main" id="{87E0F541-D029-6057-2439-5974BAA31A12}"/>
                  </a:ext>
                </a:extLst>
              </p:cNvPr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>
                <a:extLst>
                  <a:ext uri="{FF2B5EF4-FFF2-40B4-BE49-F238E27FC236}">
                    <a16:creationId xmlns:a16="http://schemas.microsoft.com/office/drawing/2014/main" id="{A764A698-E2A5-5147-F580-F1C2A3C4F9F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>
              <a:extLst>
                <a:ext uri="{FF2B5EF4-FFF2-40B4-BE49-F238E27FC236}">
                  <a16:creationId xmlns:a16="http://schemas.microsoft.com/office/drawing/2014/main" id="{5C351E8A-F604-8C57-156F-E45FC290B56B}"/>
                </a:ext>
              </a:extLst>
            </p:cNvPr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>
              <a:extLst>
                <a:ext uri="{FF2B5EF4-FFF2-40B4-BE49-F238E27FC236}">
                  <a16:creationId xmlns:a16="http://schemas.microsoft.com/office/drawing/2014/main" id="{B25C36E1-3298-0025-1AF6-C461212A704B}"/>
                </a:ext>
              </a:extLst>
            </p:cNvPr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F20460-C9B7-8A12-16C8-FE58D00E656E}"/>
              </a:ext>
            </a:extLst>
          </p:cNvPr>
          <p:cNvSpPr txBox="1"/>
          <p:nvPr/>
        </p:nvSpPr>
        <p:spPr>
          <a:xfrm>
            <a:off x="731520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FINANCIAL ARCHITECTURE  •  UNIT ECONOMICS &amp; P&amp;L SIZING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The Multiplier Effect: Unlocking ₹775 Cr in Pure Annual EBITDA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Conservative, step-by-step financial model grounded in official data pack parameters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DE53CD-93EE-5AE8-846F-2E797BD46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772163"/>
              </p:ext>
            </p:extLst>
          </p:nvPr>
        </p:nvGraphicFramePr>
        <p:xfrm>
          <a:off x="731520" y="3721210"/>
          <a:ext cx="8961120" cy="560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56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Financial Line Item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/>
                        <a:t>Formula / Source Assumptions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Value</a:t>
                      </a:r>
                    </a:p>
                  </a:txBody>
                  <a:tcPr>
                    <a:solidFill>
                      <a:srgbClr val="3B0B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Total Annual Shipments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 err="1"/>
                        <a:t>ValMo</a:t>
                      </a:r>
                      <a:r>
                        <a:rPr sz="1400" dirty="0"/>
                        <a:t> 2026 Run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1,200,000,000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Baseline Blended 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80% COD @ 20% + 20% Prep @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17.0% (205M RTOs)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Gross Cost per 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₹50 Forward + ₹120 Reverse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₹170 / Failed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Target RTO Compression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SmartAttempt (-3.6%) + Re-Route (-1.0%)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-4.6% Absolute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Delivered Orders Saved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1.2B × 4.6%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55.2 Million Orders</a:t>
                      </a:r>
                    </a:p>
                  </a:txBody>
                  <a:tcPr>
                    <a:solidFill>
                      <a:srgbClr val="F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Gross Logistics Cost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55.2M × ₹170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₹938.4 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Saved LMDC Fees (Pre-Dispatch)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/>
                        <a:t>12M early cancels × ₹21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rPr sz="1400" dirty="0"/>
                        <a:t>₹25.2 Crores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rPr sz="1400"/>
                        <a:t>Program OpEx &amp; Incentives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rPr sz="1400"/>
                        <a:t>WhatsApp (₹52M) + UPI (₹45M) + Rider + ReRoute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</a:defRPr>
                      </a:pPr>
                      <a:r>
                        <a:rPr sz="1400"/>
                        <a:t>(₹188.0 Crores)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056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rPr sz="1400"/>
                        <a:t>NET ANNUAL EBITDA UPLIFT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rPr sz="1400" dirty="0"/>
                        <a:t>Gross Logistics Savings - Program </a:t>
                      </a:r>
                      <a:r>
                        <a:rPr sz="1400" dirty="0" err="1"/>
                        <a:t>OpEx</a:t>
                      </a:r>
                      <a:endParaRPr sz="1400"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rPr sz="1400" dirty="0"/>
                        <a:t>₹775.6 CRORES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ounded Rectangle 99">
            <a:extLst>
              <a:ext uri="{FF2B5EF4-FFF2-40B4-BE49-F238E27FC236}">
                <a16:creationId xmlns:a16="http://schemas.microsoft.com/office/drawing/2014/main" id="{21512BBE-BD22-73AE-2D0E-2FB5DC661BB6}"/>
              </a:ext>
            </a:extLst>
          </p:cNvPr>
          <p:cNvSpPr/>
          <p:nvPr/>
        </p:nvSpPr>
        <p:spPr>
          <a:xfrm>
            <a:off x="10058400" y="3721211"/>
            <a:ext cx="7498079" cy="26318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59669"/>
                </a:solidFill>
              </a:defRPr>
            </a:pPr>
            <a:r>
              <a:rPr sz="2000" dirty="0"/>
              <a:t>17X ROI ON THE ₹10 UPI CONVERSION DISCOUNT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rPr sz="1600" dirty="0"/>
              <a:t>Converting a COD order to Prepaid collapses its RTO probability from 20% to 5% (a 75% risk reduction). By spending just ₹10 in instant cashback on delivery morning, </a:t>
            </a:r>
            <a:r>
              <a:rPr sz="1600" dirty="0" err="1"/>
              <a:t>Meesho</a:t>
            </a:r>
            <a:r>
              <a:rPr sz="1600" dirty="0"/>
              <a:t> protects a ₹170 direct logistics loss.</a:t>
            </a:r>
            <a:br>
              <a:rPr sz="1600" dirty="0"/>
            </a:br>
            <a:br>
              <a:rPr sz="1600" dirty="0"/>
            </a:br>
            <a:r>
              <a:rPr sz="1600" dirty="0"/>
              <a:t>▶ Annualized UPI Spend: ₹45 Cr ➔ Saves ₹765 Cr in prevented RTOs!</a:t>
            </a:r>
          </a:p>
        </p:txBody>
      </p:sp>
      <p:sp>
        <p:nvSpPr>
          <p:cNvPr id="9" name="Rounded Rectangle 100">
            <a:extLst>
              <a:ext uri="{FF2B5EF4-FFF2-40B4-BE49-F238E27FC236}">
                <a16:creationId xmlns:a16="http://schemas.microsoft.com/office/drawing/2014/main" id="{8D64A6A1-6656-4F11-9B62-B0379696C817}"/>
              </a:ext>
            </a:extLst>
          </p:cNvPr>
          <p:cNvSpPr/>
          <p:nvPr/>
        </p:nvSpPr>
        <p:spPr>
          <a:xfrm>
            <a:off x="10058400" y="6683121"/>
            <a:ext cx="7498079" cy="263188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D97706"/>
                </a:solidFill>
              </a:defRPr>
            </a:pPr>
            <a:r>
              <a:rPr sz="2000" dirty="0"/>
              <a:t>VALMO RE-ROUTE™ LOCAL VALUE ARBITRAGE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rPr sz="1600" dirty="0"/>
              <a:t>Every refused parcel liquidated locally within 7 days avoids 100% of the ₹120 reverse logistics freight. Even after funding a 15% promotional discount to the local buyer (~₹35), </a:t>
            </a:r>
            <a:r>
              <a:rPr sz="1600" dirty="0" err="1"/>
              <a:t>ValMo</a:t>
            </a:r>
            <a:r>
              <a:rPr sz="1600" dirty="0"/>
              <a:t> captures a net ₹85 margin contribution per re-routed parcel.</a:t>
            </a:r>
            <a:br>
              <a:rPr sz="1600" dirty="0"/>
            </a:br>
            <a:br>
              <a:rPr sz="1600" dirty="0"/>
            </a:br>
            <a:r>
              <a:rPr sz="1600" dirty="0"/>
              <a:t>▶ Target: 18M parcels re-routed annually ➔ ₹153 Cr net reverse freight savings!</a:t>
            </a:r>
          </a:p>
        </p:txBody>
      </p:sp>
    </p:spTree>
    <p:extLst>
      <p:ext uri="{BB962C8B-B14F-4D97-AF65-F5344CB8AC3E}">
        <p14:creationId xmlns:p14="http://schemas.microsoft.com/office/powerpoint/2010/main" val="184853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25714129-0581-6874-0B6A-76C07CC3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86DC8695-3DE9-6DDF-9C40-25D7B52752EB}"/>
              </a:ext>
            </a:extLst>
          </p:cNvPr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>
            <a:extLst>
              <a:ext uri="{FF2B5EF4-FFF2-40B4-BE49-F238E27FC236}">
                <a16:creationId xmlns:a16="http://schemas.microsoft.com/office/drawing/2014/main" id="{1AA68747-E520-D6D4-18ED-4A7A8D571934}"/>
              </a:ext>
            </a:extLst>
          </p:cNvPr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>
              <a:extLst>
                <a:ext uri="{FF2B5EF4-FFF2-40B4-BE49-F238E27FC236}">
                  <a16:creationId xmlns:a16="http://schemas.microsoft.com/office/drawing/2014/main" id="{86AD8865-66B5-D385-14E9-BCF66A5CF9F4}"/>
                </a:ext>
              </a:extLst>
            </p:cNvPr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>
              <a:extLst>
                <a:ext uri="{FF2B5EF4-FFF2-40B4-BE49-F238E27FC236}">
                  <a16:creationId xmlns:a16="http://schemas.microsoft.com/office/drawing/2014/main" id="{9BAE3336-FE42-53B5-D7D4-76183D7F1809}"/>
                </a:ext>
              </a:extLst>
            </p:cNvPr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>
                <a:extLst>
                  <a:ext uri="{FF2B5EF4-FFF2-40B4-BE49-F238E27FC236}">
                    <a16:creationId xmlns:a16="http://schemas.microsoft.com/office/drawing/2014/main" id="{6A8B23CB-ED15-5D45-312E-6A2B7E787BE6}"/>
                  </a:ext>
                </a:extLst>
              </p:cNvPr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>
                <a:extLst>
                  <a:ext uri="{FF2B5EF4-FFF2-40B4-BE49-F238E27FC236}">
                    <a16:creationId xmlns:a16="http://schemas.microsoft.com/office/drawing/2014/main" id="{E8508A8F-3D32-B65D-CA79-291B70B90F7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>
              <a:extLst>
                <a:ext uri="{FF2B5EF4-FFF2-40B4-BE49-F238E27FC236}">
                  <a16:creationId xmlns:a16="http://schemas.microsoft.com/office/drawing/2014/main" id="{D9F9A4AF-4895-97D8-2CB6-8E2D3B7A7FF3}"/>
                </a:ext>
              </a:extLst>
            </p:cNvPr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>
              <a:extLst>
                <a:ext uri="{FF2B5EF4-FFF2-40B4-BE49-F238E27FC236}">
                  <a16:creationId xmlns:a16="http://schemas.microsoft.com/office/drawing/2014/main" id="{6613B570-8116-BC35-7DC7-516ED8CB3819}"/>
                </a:ext>
              </a:extLst>
            </p:cNvPr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F78FCF-64E2-102F-0854-76E59A72878C}"/>
              </a:ext>
            </a:extLst>
          </p:cNvPr>
          <p:cNvSpPr txBox="1"/>
          <p:nvPr/>
        </p:nvSpPr>
        <p:spPr>
          <a:xfrm>
            <a:off x="731520" y="2513929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ROADMAP &amp; EXECUTION  •  30-60-90 DAY PILOT PLAN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The 90-Day Path from Pilot Validation to Platform-Wide Scale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Staged rollout mitigating execution risk through rigorous milestone gates</a:t>
            </a: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F92ED599-40F4-56D0-6CC7-FB0093E30356}"/>
              </a:ext>
            </a:extLst>
          </p:cNvPr>
          <p:cNvSpPr/>
          <p:nvPr/>
        </p:nvSpPr>
        <p:spPr>
          <a:xfrm>
            <a:off x="731520" y="3747792"/>
            <a:ext cx="5394960" cy="375028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F43397"/>
                </a:solidFill>
              </a:defRPr>
            </a:pPr>
            <a:r>
              <a:rPr sz="2000" dirty="0"/>
              <a:t>PHASE 1: DAYS 1–30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/>
              <a:t>3-Hub Pilot Validation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Hub Selection: Top 3 high-RTO hubs: Patna Central, Lucknow South, Jaipur East (~95k daily orders).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Deploy WhatsApp Card: Integrate 8:00 AM delivery notification &amp; honest cancellation option.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Deploy 150m Geo-Fence: Enforce telemetry-based attempt submission on </a:t>
            </a:r>
            <a:r>
              <a:rPr sz="1200" dirty="0" err="1"/>
              <a:t>ValMo</a:t>
            </a:r>
            <a:r>
              <a:rPr sz="1200" dirty="0"/>
              <a:t> rider app.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Test </a:t>
            </a:r>
            <a:r>
              <a:rPr sz="1200" dirty="0" err="1"/>
              <a:t>Truecaller</a:t>
            </a:r>
            <a:r>
              <a:rPr sz="1200" dirty="0"/>
              <a:t> Caller ID: Green business badge deployed on 450 pilot riders.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Stage-Gate Metric: &gt;15% RTO drop in pilot hubs &amp; zero rider churn.</a:t>
            </a:r>
          </a:p>
        </p:txBody>
      </p:sp>
      <p:sp>
        <p:nvSpPr>
          <p:cNvPr id="7" name="Rounded Rectangle 99">
            <a:extLst>
              <a:ext uri="{FF2B5EF4-FFF2-40B4-BE49-F238E27FC236}">
                <a16:creationId xmlns:a16="http://schemas.microsoft.com/office/drawing/2014/main" id="{AD207879-A06D-E8FE-0BC2-10B8A06E0BB6}"/>
              </a:ext>
            </a:extLst>
          </p:cNvPr>
          <p:cNvSpPr/>
          <p:nvPr/>
        </p:nvSpPr>
        <p:spPr>
          <a:xfrm>
            <a:off x="6446520" y="3747792"/>
            <a:ext cx="5394960" cy="375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rPr sz="2000" dirty="0"/>
              <a:t>PHASE 2: DAYS 31–60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/>
              <a:t>Regional Scale &amp; UPI Launch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Regional Expansion: Scale to Top 35 Tier-2/3 hubs across UP, Bihar, Rajasthan, and MP.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Launch ₹10 UPI Discount: Activate instant UPI discount on delivery morning via WhatsApp.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Activate Dynamic Distance Pay: Roll out +₹6 effort incentive for &gt;10km orders to riders.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Launch Re-Route™ Pilot: Deploy 7-day staging buffer for refused sarees &amp; </a:t>
            </a:r>
            <a:r>
              <a:rPr sz="1200" dirty="0" err="1"/>
              <a:t>kurtis</a:t>
            </a:r>
            <a:r>
              <a:rPr sz="1200" dirty="0"/>
              <a:t> in Lucknow hub.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Stage-Gate Metric: &gt;20% UPI conversion rate on delivery morning.</a:t>
            </a:r>
          </a:p>
        </p:txBody>
      </p:sp>
      <p:sp>
        <p:nvSpPr>
          <p:cNvPr id="9" name="Rounded Rectangle 100">
            <a:extLst>
              <a:ext uri="{FF2B5EF4-FFF2-40B4-BE49-F238E27FC236}">
                <a16:creationId xmlns:a16="http://schemas.microsoft.com/office/drawing/2014/main" id="{E024AB95-AC8C-BE33-234C-CE77800665D0}"/>
              </a:ext>
            </a:extLst>
          </p:cNvPr>
          <p:cNvSpPr/>
          <p:nvPr/>
        </p:nvSpPr>
        <p:spPr>
          <a:xfrm>
            <a:off x="12161520" y="3747790"/>
            <a:ext cx="5394960" cy="3750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rPr sz="2000" dirty="0"/>
              <a:t>PHASE 3: DAYS 61–90</a:t>
            </a:r>
          </a:p>
          <a:p>
            <a:pPr>
              <a:spcAft>
                <a:spcPts val="800"/>
              </a:spcAft>
              <a:defRPr sz="1300" b="1">
                <a:solidFill>
                  <a:srgbClr val="3B0B34"/>
                </a:solidFill>
              </a:defRPr>
            </a:pPr>
            <a:r>
              <a:rPr sz="1600" dirty="0"/>
              <a:t>National Rollout &amp; ML Loop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National Deployment: Full platform rollout across all 150+ </a:t>
            </a:r>
            <a:r>
              <a:rPr sz="1200" dirty="0" err="1"/>
              <a:t>ValMo</a:t>
            </a:r>
            <a:r>
              <a:rPr sz="1200" dirty="0"/>
              <a:t> fulfillment centers.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Scale Re-Route™ Engine: Automated in-app flash deals for refused parcels across top 10 categories.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Checkout Risk ML Scoring: Feed delivery telemetry back to checkout to dynamically require prepayment for repeat RTO abusers.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Executive Review: Full audited P&amp;L report presented to </a:t>
            </a:r>
            <a:r>
              <a:rPr sz="1200" dirty="0" err="1"/>
              <a:t>Meesho</a:t>
            </a:r>
            <a:r>
              <a:rPr sz="1200" dirty="0"/>
              <a:t> board.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rPr sz="1200" dirty="0"/>
              <a:t>▶ Target Milestone: Full platform blended RTO reduced to 12.4%.</a:t>
            </a:r>
          </a:p>
        </p:txBody>
      </p:sp>
      <p:sp>
        <p:nvSpPr>
          <p:cNvPr id="11" name="Rounded Rectangle 101">
            <a:extLst>
              <a:ext uri="{FF2B5EF4-FFF2-40B4-BE49-F238E27FC236}">
                <a16:creationId xmlns:a16="http://schemas.microsoft.com/office/drawing/2014/main" id="{644ECA01-7EA5-4A9B-D648-11F52A9C156B}"/>
              </a:ext>
            </a:extLst>
          </p:cNvPr>
          <p:cNvSpPr/>
          <p:nvPr/>
        </p:nvSpPr>
        <p:spPr>
          <a:xfrm>
            <a:off x="731520" y="7757314"/>
            <a:ext cx="16824960" cy="1672933"/>
          </a:xfrm>
          <a:prstGeom prst="roundRect">
            <a:avLst/>
          </a:prstGeom>
          <a:solidFill>
            <a:srgbClr val="F8F0F8"/>
          </a:solidFill>
          <a:ln w="19050">
            <a:solidFill>
              <a:srgbClr val="3B0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3B0B34"/>
                </a:solidFill>
              </a:defRPr>
            </a:pPr>
            <a:r>
              <a:rPr sz="2000" dirty="0"/>
              <a:t>GO-TO-MARKET RIDER COMMUNICATION &amp; CHANGE MANAGEMENT: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sz="1600" dirty="0"/>
              <a:t>A town hall and video briefing in vernacular Hindi, Bhojpuri, and Rajasthani explaining: 'We are not punishing riders; we are paying you MORE for far deliveries and guaranteeing that when you reach an address, the customer will be ready with cash!'</a:t>
            </a:r>
          </a:p>
        </p:txBody>
      </p:sp>
    </p:spTree>
    <p:extLst>
      <p:ext uri="{BB962C8B-B14F-4D97-AF65-F5344CB8AC3E}">
        <p14:creationId xmlns:p14="http://schemas.microsoft.com/office/powerpoint/2010/main" val="359308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BEA0CEAD-875D-230C-9F4B-937405397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3CF4E243-74D5-9C96-593A-4D842F85B7C0}"/>
              </a:ext>
            </a:extLst>
          </p:cNvPr>
          <p:cNvSpPr/>
          <p:nvPr/>
        </p:nvSpPr>
        <p:spPr>
          <a:xfrm>
            <a:off x="0" y="91845"/>
            <a:ext cx="18288000" cy="10195155"/>
          </a:xfrm>
          <a:custGeom>
            <a:avLst/>
            <a:gdLst/>
            <a:ahLst/>
            <a:cxnLst/>
            <a:rect l="l" t="t" r="r" b="b"/>
            <a:pathLst>
              <a:path w="18288000" h="10195155" extrusionOk="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1655"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grpSp>
        <p:nvGrpSpPr>
          <p:cNvPr id="127" name="Google Shape;127;p5">
            <a:extLst>
              <a:ext uri="{FF2B5EF4-FFF2-40B4-BE49-F238E27FC236}">
                <a16:creationId xmlns:a16="http://schemas.microsoft.com/office/drawing/2014/main" id="{3F9B71FB-E531-DF2E-C8BF-3FF179A2B578}"/>
              </a:ext>
            </a:extLst>
          </p:cNvPr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>
              <a:extLst>
                <a:ext uri="{FF2B5EF4-FFF2-40B4-BE49-F238E27FC236}">
                  <a16:creationId xmlns:a16="http://schemas.microsoft.com/office/drawing/2014/main" id="{ED6F6D9B-036C-FAFE-47F3-F8A0218F277F}"/>
                </a:ext>
              </a:extLst>
            </p:cNvPr>
            <p:cNvSpPr/>
            <p:nvPr/>
          </p:nvSpPr>
          <p:spPr>
            <a:xfrm>
              <a:off x="6699722" y="0"/>
              <a:ext cx="17684278" cy="3237433"/>
            </a:xfrm>
            <a:custGeom>
              <a:avLst/>
              <a:gdLst/>
              <a:ahLst/>
              <a:cxnLst/>
              <a:rect l="l" t="t" r="r" b="b"/>
              <a:pathLst>
                <a:path w="17684278" h="3237433" extrusionOk="0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29" name="Google Shape;129;p5">
              <a:extLst>
                <a:ext uri="{FF2B5EF4-FFF2-40B4-BE49-F238E27FC236}">
                  <a16:creationId xmlns:a16="http://schemas.microsoft.com/office/drawing/2014/main" id="{9A10B66B-352F-93E8-0606-C89A1F787CBC}"/>
                </a:ext>
              </a:extLst>
            </p:cNvPr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>
                <a:extLst>
                  <a:ext uri="{FF2B5EF4-FFF2-40B4-BE49-F238E27FC236}">
                    <a16:creationId xmlns:a16="http://schemas.microsoft.com/office/drawing/2014/main" id="{AF19D2D3-3641-8CB6-C6CA-E711F59DD3B0}"/>
                  </a:ext>
                </a:extLst>
              </p:cNvPr>
              <p:cNvSpPr/>
              <p:nvPr/>
            </p:nvSpPr>
            <p:spPr>
              <a:xfrm>
                <a:off x="0" y="0"/>
                <a:ext cx="2570874" cy="639493"/>
              </a:xfrm>
              <a:custGeom>
                <a:avLst/>
                <a:gdLst/>
                <a:ahLst/>
                <a:cxnLst/>
                <a:rect l="l" t="t" r="r" b="b"/>
                <a:pathLst>
                  <a:path w="2570874" h="639493" extrusionOk="0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Google Shape;131;p5">
                <a:extLst>
                  <a:ext uri="{FF2B5EF4-FFF2-40B4-BE49-F238E27FC236}">
                    <a16:creationId xmlns:a16="http://schemas.microsoft.com/office/drawing/2014/main" id="{EE9D6709-1160-5AC2-16A2-4BB893D1B5BA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9375" tIns="29375" rIns="29375" bIns="293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>
              <a:extLst>
                <a:ext uri="{FF2B5EF4-FFF2-40B4-BE49-F238E27FC236}">
                  <a16:creationId xmlns:a16="http://schemas.microsoft.com/office/drawing/2014/main" id="{EFD79E12-9755-18BB-3872-1BE5DEBC029B}"/>
                </a:ext>
              </a:extLst>
            </p:cNvPr>
            <p:cNvSpPr/>
            <p:nvPr/>
          </p:nvSpPr>
          <p:spPr>
            <a:xfrm>
              <a:off x="538320" y="184543"/>
              <a:ext cx="5215177" cy="2868347"/>
            </a:xfrm>
            <a:custGeom>
              <a:avLst/>
              <a:gdLst/>
              <a:ahLst/>
              <a:cxnLst/>
              <a:rect l="l" t="t" r="r" b="b"/>
              <a:pathLst>
                <a:path w="5215177" h="2868347" extrusionOk="0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Google Shape;133;p5">
              <a:extLst>
                <a:ext uri="{FF2B5EF4-FFF2-40B4-BE49-F238E27FC236}">
                  <a16:creationId xmlns:a16="http://schemas.microsoft.com/office/drawing/2014/main" id="{DEBDA1F8-3200-69E4-72BA-3FD681BBA9F2}"/>
                </a:ext>
              </a:extLst>
            </p:cNvPr>
            <p:cNvSpPr/>
            <p:nvPr/>
          </p:nvSpPr>
          <p:spPr>
            <a:xfrm>
              <a:off x="935278" y="425330"/>
              <a:ext cx="4803566" cy="2386772"/>
            </a:xfrm>
            <a:custGeom>
              <a:avLst/>
              <a:gdLst/>
              <a:ahLst/>
              <a:cxnLst/>
              <a:rect l="l" t="t" r="r" b="b"/>
              <a:pathLst>
                <a:path w="4803566" h="2386772" extrusionOk="0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9475DBA-FBD0-71AF-BCB2-7A2576256846}"/>
              </a:ext>
            </a:extLst>
          </p:cNvPr>
          <p:cNvSpPr txBox="1"/>
          <p:nvPr/>
        </p:nvSpPr>
        <p:spPr>
          <a:xfrm>
            <a:off x="731520" y="2519920"/>
            <a:ext cx="1682496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43397"/>
                </a:solidFill>
                <a:latin typeface="Arial"/>
              </a:defRPr>
            </a:pPr>
            <a:r>
              <a:rPr sz="1600" dirty="0"/>
              <a:t>GOVERNANCE &amp; SECOND-ORDER EFFECTS  •  RISK MATRIX &amp; MOAT</a:t>
            </a:r>
          </a:p>
          <a:p>
            <a:pPr>
              <a:spcAft>
                <a:spcPts val="200"/>
              </a:spcAft>
              <a:defRPr sz="2000" b="1">
                <a:solidFill>
                  <a:srgbClr val="3B0B34"/>
                </a:solidFill>
                <a:latin typeface="Arial"/>
              </a:defRPr>
            </a:pPr>
            <a:r>
              <a:rPr sz="2800" dirty="0"/>
              <a:t>Protecting the Moat: Risk Guardrails &amp; The Affordability Flywheel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rPr sz="1600" dirty="0"/>
              <a:t>Ensuring solution stability, preventing gaming, and preserving </a:t>
            </a:r>
            <a:r>
              <a:rPr sz="1600" dirty="0" err="1"/>
              <a:t>Meesho's</a:t>
            </a:r>
            <a:r>
              <a:rPr sz="1600" dirty="0"/>
              <a:t> zero-commission promise</a:t>
            </a:r>
          </a:p>
        </p:txBody>
      </p:sp>
      <p:sp>
        <p:nvSpPr>
          <p:cNvPr id="5" name="Rounded Rectangle 98">
            <a:extLst>
              <a:ext uri="{FF2B5EF4-FFF2-40B4-BE49-F238E27FC236}">
                <a16:creationId xmlns:a16="http://schemas.microsoft.com/office/drawing/2014/main" id="{13E1043B-5E8D-FB10-24F5-4E98CACEEED5}"/>
              </a:ext>
            </a:extLst>
          </p:cNvPr>
          <p:cNvSpPr/>
          <p:nvPr/>
        </p:nvSpPr>
        <p:spPr>
          <a:xfrm>
            <a:off x="731520" y="3943847"/>
            <a:ext cx="3977639" cy="358603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DC2626"/>
                </a:solidFill>
              </a:defRPr>
            </a:pPr>
            <a:r>
              <a:rPr sz="2000" dirty="0"/>
              <a:t>1. RIDER GAMING RISK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Threat: Tech-savvy riders using mock GPS apps to simulate being within 150m.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1: Integrate Google Play Integrity API to detect and block mock locations.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2: 45-second mandatory dwell time + cell tower triangulation check.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3: Buyer disconfirmation alert instantly flags repeat spoofers for audit.</a:t>
            </a:r>
          </a:p>
        </p:txBody>
      </p:sp>
      <p:sp>
        <p:nvSpPr>
          <p:cNvPr id="7" name="Rounded Rectangle 99">
            <a:extLst>
              <a:ext uri="{FF2B5EF4-FFF2-40B4-BE49-F238E27FC236}">
                <a16:creationId xmlns:a16="http://schemas.microsoft.com/office/drawing/2014/main" id="{FE9738E2-7430-CF88-B025-BCA896E8DB7B}"/>
              </a:ext>
            </a:extLst>
          </p:cNvPr>
          <p:cNvSpPr/>
          <p:nvPr/>
        </p:nvSpPr>
        <p:spPr>
          <a:xfrm>
            <a:off x="5010911" y="3943845"/>
            <a:ext cx="3977639" cy="3586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D97706"/>
                </a:solidFill>
              </a:defRPr>
            </a:pPr>
            <a:r>
              <a:rPr sz="2000" dirty="0"/>
              <a:t>2. BUYER PRIVACY &amp; SPAM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Threat: Repeated WhatsApp messages annoying price-conscious buyers.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1: Strict cap of max 2 WhatsApp notifications per shipment.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2: 1-click 'Opt-out / Switch to SMS' button provided on all cards.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3: Automated fallback to interactive 2-way SMS if WhatsApp is inactive.</a:t>
            </a:r>
          </a:p>
        </p:txBody>
      </p:sp>
      <p:sp>
        <p:nvSpPr>
          <p:cNvPr id="9" name="Rounded Rectangle 100">
            <a:extLst>
              <a:ext uri="{FF2B5EF4-FFF2-40B4-BE49-F238E27FC236}">
                <a16:creationId xmlns:a16="http://schemas.microsoft.com/office/drawing/2014/main" id="{96EC2CC2-DD31-6104-5D4D-7FCCE65AB81E}"/>
              </a:ext>
            </a:extLst>
          </p:cNvPr>
          <p:cNvSpPr/>
          <p:nvPr/>
        </p:nvSpPr>
        <p:spPr>
          <a:xfrm>
            <a:off x="9290302" y="3943845"/>
            <a:ext cx="3977639" cy="358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43397"/>
                </a:solidFill>
              </a:defRPr>
            </a:pPr>
            <a:r>
              <a:rPr sz="2000" dirty="0"/>
              <a:t>3. SELLER INVENTORY TRUST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Threat: Sellers concerned about inventory held in local hub staging.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1: Re-Route™ applies only to opt-in sellers; sellers paid full price immediately upon local re-order.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2: Maximum 7-day staging limit; if unsold after 7 days, parcel returns automatically.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Guardrail 3: Zero warehousing fees charged to sellers during staging.</a:t>
            </a:r>
          </a:p>
        </p:txBody>
      </p:sp>
      <p:sp>
        <p:nvSpPr>
          <p:cNvPr id="11" name="Rounded Rectangle 101">
            <a:extLst>
              <a:ext uri="{FF2B5EF4-FFF2-40B4-BE49-F238E27FC236}">
                <a16:creationId xmlns:a16="http://schemas.microsoft.com/office/drawing/2014/main" id="{1FB4C5DF-8859-6D1E-6564-B704ECE8E08A}"/>
              </a:ext>
            </a:extLst>
          </p:cNvPr>
          <p:cNvSpPr/>
          <p:nvPr/>
        </p:nvSpPr>
        <p:spPr>
          <a:xfrm>
            <a:off x="13569693" y="3943845"/>
            <a:ext cx="3977639" cy="358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059669"/>
                </a:solidFill>
              </a:defRPr>
            </a:pPr>
            <a:r>
              <a:rPr sz="2000" dirty="0"/>
              <a:t>4. MEESHO AFFORDABILITY FLYWHEEL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Zero Seller Commission: Completely preserved; sellers save 14 days of locked working capital.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Lowest Prices in India: Saving ₹775 Cr in logistics waste directly reduces delivery cost per order.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Rider Welfare: Higher earnings on difficult beats improve gig retention across Bharat.</a:t>
            </a:r>
          </a:p>
          <a:p>
            <a:pPr>
              <a:spcAft>
                <a:spcPts val="400"/>
              </a:spcAft>
              <a:defRPr sz="950">
                <a:solidFill>
                  <a:srgbClr val="334155"/>
                </a:solidFill>
              </a:defRPr>
            </a:pPr>
            <a:r>
              <a:rPr sz="1200" dirty="0"/>
              <a:t>• Sustainable Growth: Unlocks massive post-IPO EBITDA expansion without external capital.</a:t>
            </a:r>
          </a:p>
        </p:txBody>
      </p:sp>
      <p:sp>
        <p:nvSpPr>
          <p:cNvPr id="13" name="Rounded Rectangle 102">
            <a:extLst>
              <a:ext uri="{FF2B5EF4-FFF2-40B4-BE49-F238E27FC236}">
                <a16:creationId xmlns:a16="http://schemas.microsoft.com/office/drawing/2014/main" id="{3A746A8E-7C6A-8725-78B3-9A9E4E193F4A}"/>
              </a:ext>
            </a:extLst>
          </p:cNvPr>
          <p:cNvSpPr/>
          <p:nvPr/>
        </p:nvSpPr>
        <p:spPr>
          <a:xfrm>
            <a:off x="731520" y="7767080"/>
            <a:ext cx="16824960" cy="16949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300"/>
              </a:spcAft>
              <a:defRPr sz="1100" b="1">
                <a:solidFill>
                  <a:srgbClr val="059669"/>
                </a:solidFill>
              </a:defRPr>
            </a:pPr>
            <a:r>
              <a:rPr sz="2400" dirty="0"/>
              <a:t>FINAL WORD: ARCHITECTED FOR INDIA'S NEXT 500 MILLION SHOPPERS: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sz="1600" dirty="0"/>
              <a:t>Project Nirman proves that solving Indian e-commerce logistics does not require expensive warehouses or heavy subsidies. By harnessing simple, ubiquitous technologies — WhatsApp, </a:t>
            </a:r>
            <a:r>
              <a:rPr sz="1600" dirty="0" err="1"/>
              <a:t>Truecaller</a:t>
            </a:r>
            <a:r>
              <a:rPr sz="1600" dirty="0"/>
              <a:t>, and mobile GPS — </a:t>
            </a:r>
            <a:r>
              <a:rPr sz="1600" dirty="0" err="1"/>
              <a:t>ValMo</a:t>
            </a:r>
            <a:r>
              <a:rPr sz="1600" dirty="0"/>
              <a:t> </a:t>
            </a:r>
            <a:r>
              <a:rPr sz="1600" dirty="0" err="1"/>
              <a:t>SmartAttempt</a:t>
            </a:r>
            <a:r>
              <a:rPr sz="1600" dirty="0"/>
              <a:t>™ and Re-Route™ turn </a:t>
            </a:r>
            <a:r>
              <a:rPr sz="1600" dirty="0" err="1"/>
              <a:t>Meesho's</a:t>
            </a:r>
            <a:r>
              <a:rPr sz="1600" dirty="0"/>
              <a:t> biggest cost leak into an unassailable ₹775 Crore annual profit engine, </a:t>
            </a:r>
            <a:r>
              <a:rPr sz="1600" dirty="0" err="1"/>
              <a:t>democratising</a:t>
            </a:r>
            <a:r>
              <a:rPr sz="1600" dirty="0"/>
              <a:t> internet commerce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93478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3617</Words>
  <Application>Microsoft Office PowerPoint</Application>
  <PresentationFormat>Custom</PresentationFormat>
  <Paragraphs>281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Aashanvit Janbandhu</cp:lastModifiedBy>
  <cp:revision>1</cp:revision>
  <dcterms:created xsi:type="dcterms:W3CDTF">2006-08-16T00:00:00Z</dcterms:created>
  <dcterms:modified xsi:type="dcterms:W3CDTF">2026-10-04T21:45:57Z</dcterms:modified>
</cp:coreProperties>
</file>